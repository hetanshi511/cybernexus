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 snapToObjects="1">
      <p:cViewPr varScale="1">
        <p:scale>
          <a:sx n="86" d="100"/>
          <a:sy n="86" d="100"/>
        </p:scale>
        <p:origin x="135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000" b="1"/>
            </a:pPr>
            <a:r>
              <a:t>Dataset Overview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1865376" cy="2863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Document Control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82880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0000"/>
                          </a:solidFill>
                        </a:defRPr>
                      </a:pPr>
                      <a:r>
                        <a:t>Document Title</a:t>
                      </a:r>
                    </a:p>
                  </a:txBody>
                  <a:tcPr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Dataset Overview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0000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0000"/>
                          </a:solidFill>
                        </a:defRPr>
                      </a:pPr>
                      <a:r>
                        <a:t>Creation Date</a:t>
                      </a:r>
                    </a:p>
                  </a:txBody>
                  <a:tcPr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2026-03-24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0000"/>
                          </a:solidFill>
                        </a:defRPr>
                      </a:pPr>
                      <a:r>
                        <a:t>Document Owner</a:t>
                      </a:r>
                    </a:p>
                  </a:txBody>
                  <a:tcPr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vdfv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0000"/>
                          </a:solidFill>
                        </a:defRPr>
                      </a:pPr>
                      <a:r>
                        <a:t>Email-Contact</a:t>
                      </a:r>
                    </a:p>
                  </a:txBody>
                  <a:tcPr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vbfhd@bfhrb.vnjdfv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0000"/>
                          </a:solidFill>
                        </a:defRPr>
                      </a:pPr>
                      <a:r>
                        <a:t>Department</a:t>
                      </a:r>
                    </a:p>
                  </a:txBody>
                  <a:tcPr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vfbvh b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0000"/>
                          </a:solidFill>
                        </a:defRPr>
                      </a:pPr>
                      <a:r>
                        <a:t>Approved By</a:t>
                      </a:r>
                    </a:p>
                  </a:txBody>
                  <a:tcPr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fvbhfd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0000"/>
                          </a:solidFill>
                        </a:defRPr>
                      </a:pPr>
                      <a:r>
                        <a:t>Classification</a:t>
                      </a:r>
                    </a:p>
                  </a:txBody>
                  <a:tcPr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Internal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1865376" cy="2863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649224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/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 Demographics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828800"/>
          <a:ext cx="7315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812800"/>
                <a:gridCol w="812800"/>
                <a:gridCol w="812800"/>
                <a:gridCol w="812800"/>
                <a:gridCol w="812800"/>
                <a:gridCol w="812800"/>
                <a:gridCol w="812800"/>
                <a:gridCol w="812800"/>
              </a:tblGrid>
              <a:tr h="731520"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Customer ID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Name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Gender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Age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City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State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Country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Signup Date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Loyalty Tier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CUST001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Hetanshi Patel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Female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23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Ahmedabad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Gujarat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India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2024-01-15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Gold</a:t>
                      </a:r>
                    </a:p>
                  </a:txBody>
                  <a:tcPr marL="18288" marR="18288"/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CUST002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Rahul Mehta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Male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29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Mumbai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Maharashtra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India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2023-11-20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Silver</a:t>
                      </a:r>
                    </a:p>
                  </a:txBody>
                  <a:tcPr marL="18288" marR="18288"/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CUST003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Ananya Singh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Female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34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Delhi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Delhi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India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2022-08-10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Platinum</a:t>
                      </a:r>
                    </a:p>
                  </a:txBody>
                  <a:tcPr marL="18288" marR="18288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9436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/>
            </a:pPr>
            <a:r>
              <a:t>The dataset includes customer demographics, showing a diverse range of ages, genders, and locations. The loyalty tiers indicate varying levels of customer engagement. Understanding these demographics can help tailor marketing strategies and improve customer retention.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1865376" cy="2863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649224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/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 Details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828800"/>
          <a:ext cx="7315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219200"/>
                <a:gridCol w="1219200"/>
                <a:gridCol w="1219200"/>
                <a:gridCol w="1219200"/>
                <a:gridCol w="1219200"/>
              </a:tblGrid>
              <a:tr h="731520"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Product ID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Product Name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Price (INR)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Cost (INR)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Brand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PROD001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Laptop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Electronics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65000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52000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TechPro</a:t>
                      </a:r>
                    </a:p>
                  </a:txBody>
                  <a:tcPr marL="18288" marR="18288"/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PROD002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Smartphone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Electronics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32000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25000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SmartX</a:t>
                      </a:r>
                    </a:p>
                  </a:txBody>
                  <a:tcPr marL="18288" marR="18288"/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PROD003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Wireless Earbuds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Accessories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4500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3000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SoundMax</a:t>
                      </a:r>
                    </a:p>
                  </a:txBody>
                  <a:tcPr marL="18288" marR="18288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9436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/>
            </a:pPr>
            <a:r>
              <a:t>The product details show a range of electronics and accessories, with varying price points and profit margins. This information is essential for inventory management and pricing strategies. High-margin products like the laptop can be a focus for promotional activities.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1865376" cy="2863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649224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/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Order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828800"/>
          <a:ext cx="7315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028"/>
                <a:gridCol w="1045028"/>
                <a:gridCol w="1045028"/>
                <a:gridCol w="1045028"/>
                <a:gridCol w="1045028"/>
                <a:gridCol w="1045028"/>
                <a:gridCol w="1045032"/>
              </a:tblGrid>
              <a:tr h="731520"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Order ID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Customer ID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Order Date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City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Total Amount (INR)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Payment Mode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ORD001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CUST001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2025-06-14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Delivered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Ahmedabad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69500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Credit Card</a:t>
                      </a:r>
                    </a:p>
                  </a:txBody>
                  <a:tcPr marL="18288" marR="18288"/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ORD002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CUST002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2025-07-01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Delivered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Mumbai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36500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UPI</a:t>
                      </a:r>
                    </a:p>
                  </a:txBody>
                  <a:tcPr marL="18288" marR="18288"/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ORD003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CUST003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2025-07-10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Cancelled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Delhi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4500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Debit Card</a:t>
                      </a:r>
                    </a:p>
                  </a:txBody>
                  <a:tcPr marL="18288" marR="18288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9436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/>
            </a:pPr>
            <a:r>
              <a:t>The order summary provides insights into customer purchasing behavior and the status of orders. Successful deliveries indicate efficient logistics, while the cancelled order suggests a need to investigate customer dissatisfaction. Payment modes reflect the preferred payment methods of customers.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1865376" cy="2863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649224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/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Order Items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828800"/>
          <a:ext cx="73152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731520"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Order ID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Product ID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Quantity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Price (INR)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ORD001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PROD001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1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65000</a:t>
                      </a:r>
                    </a:p>
                  </a:txBody>
                  <a:tcPr marL="18288" marR="18288"/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ORD001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PROD003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1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4500</a:t>
                      </a:r>
                    </a:p>
                  </a:txBody>
                  <a:tcPr marL="18288" marR="18288"/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ORD002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PROD002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1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32000</a:t>
                      </a:r>
                    </a:p>
                  </a:txBody>
                  <a:tcPr marL="18288" marR="18288"/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ORD002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PROD003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1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4500</a:t>
                      </a:r>
                    </a:p>
                  </a:txBody>
                  <a:tcPr marL="18288" marR="18288"/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ORD003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PROD003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1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4500</a:t>
                      </a:r>
                    </a:p>
                  </a:txBody>
                  <a:tcPr marL="18288" marR="18288"/>
                </a:tc>
              </a:tr>
            </a:tbl>
          </a:graphicData>
        </a:graphic>
      </p:graphicFrame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1865376" cy="2863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649224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/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Payment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828800"/>
          <a:ext cx="7315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731520"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Payment ID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Order ID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Payment Status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Transaction Date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Amount (INR)</a:t>
                      </a:r>
                    </a:p>
                  </a:txBody>
                  <a:tcPr marL="18288" marR="18288">
                    <a:solidFill>
                      <a:srgbClr val="003366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PAY001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ORD001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Success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2025-06-14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69500</a:t>
                      </a:r>
                    </a:p>
                  </a:txBody>
                  <a:tcPr marL="18288" marR="18288"/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PAY002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ORD002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Success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2025-07-01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36500</a:t>
                      </a:r>
                    </a:p>
                  </a:txBody>
                  <a:tcPr marL="18288" marR="18288"/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PAY003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ORD003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Refunded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2025-07-10</a:t>
                      </a:r>
                    </a:p>
                  </a:txBody>
                  <a:tcPr marL="18288" marR="18288"/>
                </a:tc>
                <a:tc>
                  <a:txBody>
                    <a:bodyPr wrap="square"/>
                    <a:lstStyle/>
                    <a:p>
                      <a:pPr algn="l">
                        <a:defRPr sz="1400"/>
                      </a:pPr>
                      <a:r>
                        <a:t>4500</a:t>
                      </a:r>
                    </a:p>
                  </a:txBody>
                  <a:tcPr marL="18288" marR="18288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9436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/>
            </a:pPr>
            <a:r>
              <a:t>The payment summary shows the status of payments for each order. Successful payments indicate smooth transactions, while the refunded payment suggests a need to address customer concerns. Understanding payment trends can help in improving the checkout process.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1865376" cy="2863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649224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/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800"/>
            </a:pPr>
            <a:r>
              <a:t>Thank you for reviewing the Retail Analytics Dummy Data presentation. We hope this data provides valuable insights for your business strategies.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1865376" cy="2863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649224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/>
            </a:pPr>
            <a: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Hetanshi Patel</cp:lastModifiedBy>
  <cp:revision>2</cp:revision>
  <dcterms:created xsi:type="dcterms:W3CDTF">2013-01-27T09:14:16Z</dcterms:created>
  <dcterms:modified xsi:type="dcterms:W3CDTF">2026-01-26T12:27:24Z</dcterms:modified>
  <cp:category/>
</cp:coreProperties>
</file>